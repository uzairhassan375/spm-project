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7" r:id="rId11"/>
    <p:sldId id="266" r:id="rId12"/>
    <p:sldId id="265" r:id="rId13"/>
  </p:sldIdLst>
  <p:sldSz cx="14630400" cy="8229600"/>
  <p:notesSz cx="8229600" cy="14630400"/>
  <p:embeddedFontLst>
    <p:embeddedFont>
      <p:font typeface="Open Sans" panose="020B0606030504020204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DC645-819F-7891-A67F-46386F3C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A58FD-E3E3-6D7E-C63A-36CE0F1B8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0AEB9-E23F-E4CA-7145-97827AAC7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2B5D6-2CFB-7908-ED59-5470E5934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57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7220-49B3-9EED-564A-EE911683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1DEBF-A084-42A0-56DF-13CA025EC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42C18-516B-7072-BA2E-6F08EAE3F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E4F02-0FE1-0A57-2CD0-0ABC45B12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71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55516-7A39-BFD5-F89C-F890AA68D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CCEFE-F685-9819-AB1D-1D7B84443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94945-55EA-C3F8-D6B1-B1A589F1E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785BD-EBAF-3C3B-E61B-1FA155E813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72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image" Target="../media/image19.jpeg"/><Relationship Id="rId4" Type="http://schemas.openxmlformats.org/officeDocument/2006/relationships/hyperlink" Target="https://github.com/uzairhassan375/SPM-Projec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8977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Software Project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06021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Project: VoicePilot – Voice-Controlled Browser Automation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8801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Software Project Management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University: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Riphah International University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Members: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Daniyal Wajid, Uzair Hassan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Semester: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Fall 2025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FAB5EE-C504-EFC6-F2CE-CC9638695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2075" y="7715250"/>
            <a:ext cx="1704428" cy="387126"/>
          </a:xfrm>
          <a:prstGeom prst="rect">
            <a:avLst/>
          </a:prstGeom>
        </p:spPr>
      </p:pic>
      <p:pic>
        <p:nvPicPr>
          <p:cNvPr id="2050" name="Picture 2" descr="Migrate/sync from Github to Taiga - Tutorials and Guides - Taiga Community">
            <a:extLst>
              <a:ext uri="{FF2B5EF4-FFF2-40B4-BE49-F238E27FC236}">
                <a16:creationId xmlns:a16="http://schemas.microsoft.com/office/drawing/2014/main" id="{91E3A8A7-022B-D266-6C43-127ECE9979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1" r="15881"/>
          <a:stretch>
            <a:fillRect/>
          </a:stretch>
        </p:blipFill>
        <p:spPr bwMode="auto">
          <a:xfrm>
            <a:off x="0" y="0"/>
            <a:ext cx="5134708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592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Introducing VoicePilot: Hands-Free Browser Automation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07719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VoicePilot is an innovative Chrome extension designed to transform your browsing experience into a seamless, hands-free operation. Leveraging advanced voice recognition, it empowers users to control their web browser naturally and efficiently.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6340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Utilizes the cutting-edge Web Speech API for superior voice recognition accuracy.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6850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a comprehensive suite of commands for tab management, navigation, search, scrolling, and page interaction.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973604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Engineered with a dual focus on enhancing accessibility for all users and boosting overall productivity.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758797"/>
            <a:ext cx="4885015" cy="4469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CE288D-6E59-1BA7-6DAA-D5CCA94E1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2075" y="7715250"/>
            <a:ext cx="1704428" cy="3871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61961" y="846296"/>
            <a:ext cx="7792879" cy="1206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VoicePilot: Objectives &amp; Scope Defined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161961" y="2342198"/>
            <a:ext cx="7792879" cy="2279333"/>
          </a:xfrm>
          <a:prstGeom prst="roundRect">
            <a:avLst>
              <a:gd name="adj" fmla="val 4814"/>
            </a:avLst>
          </a:prstGeom>
          <a:solidFill>
            <a:srgbClr val="FFFCFA"/>
          </a:solidFill>
          <a:ln w="22860">
            <a:solidFill>
              <a:srgbClr val="835E5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39101" y="2342198"/>
            <a:ext cx="91440" cy="2279333"/>
          </a:xfrm>
          <a:prstGeom prst="roundRect">
            <a:avLst>
              <a:gd name="adj" fmla="val 88669"/>
            </a:avLst>
          </a:prstGeom>
          <a:solidFill>
            <a:srgbClr val="835E54"/>
          </a:solidFill>
          <a:ln/>
        </p:spPr>
      </p:sp>
      <p:sp>
        <p:nvSpPr>
          <p:cNvPr id="6" name="Text 3"/>
          <p:cNvSpPr/>
          <p:nvPr/>
        </p:nvSpPr>
        <p:spPr>
          <a:xfrm>
            <a:off x="6446401" y="2558058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Objectives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446401" y="3035737"/>
            <a:ext cx="729257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fully functional and robust voice-controlled Chrome extension.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46401" y="3411974"/>
            <a:ext cx="729257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 a high voice recognition accuracy.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46401" y="3788212"/>
            <a:ext cx="7292578" cy="61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61961" y="4814530"/>
            <a:ext cx="7792879" cy="2568773"/>
          </a:xfrm>
          <a:prstGeom prst="roundRect">
            <a:avLst>
              <a:gd name="adj" fmla="val 4272"/>
            </a:avLst>
          </a:prstGeom>
          <a:solidFill>
            <a:srgbClr val="FFFCFA"/>
          </a:solidFill>
          <a:ln w="22860">
            <a:solidFill>
              <a:srgbClr val="C990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39101" y="4814530"/>
            <a:ext cx="91440" cy="2568773"/>
          </a:xfrm>
          <a:prstGeom prst="roundRect">
            <a:avLst>
              <a:gd name="adj" fmla="val 88669"/>
            </a:avLst>
          </a:prstGeom>
          <a:solidFill>
            <a:srgbClr val="C9907C"/>
          </a:solidFill>
          <a:ln/>
        </p:spPr>
      </p:sp>
      <p:sp>
        <p:nvSpPr>
          <p:cNvPr id="12" name="Text 9"/>
          <p:cNvSpPr/>
          <p:nvPr/>
        </p:nvSpPr>
        <p:spPr>
          <a:xfrm>
            <a:off x="6446401" y="5030391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Scope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446401" y="5508069"/>
            <a:ext cx="7292578" cy="61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In-scope Features: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Comprehensive voice commands, intuitive tab control, efficient navigation capabilities, and real-time user feedback mechanisms.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46401" y="6241256"/>
            <a:ext cx="7292578" cy="92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Out-of-scope Considerations: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Support for mobile browsers, an offline operational mode, and multi-language support are not part of the current project phase.</a:t>
            </a:r>
            <a:endParaRPr lang="en-US" sz="1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54F850-AF1C-493D-F5B5-11E5A8BB9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2075" y="7715250"/>
            <a:ext cx="1704428" cy="387126"/>
          </a:xfrm>
          <a:prstGeom prst="rect">
            <a:avLst/>
          </a:prstGeom>
        </p:spPr>
      </p:pic>
      <p:pic>
        <p:nvPicPr>
          <p:cNvPr id="1026" name="Picture 2" descr="Software Project Management Phases &amp; Best Practices – BMC Software | Blogs">
            <a:extLst>
              <a:ext uri="{FF2B5EF4-FFF2-40B4-BE49-F238E27FC236}">
                <a16:creationId xmlns:a16="http://schemas.microsoft.com/office/drawing/2014/main" id="{34564165-BE50-F271-D31D-2769465586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7"/>
          <a:stretch>
            <a:fillRect/>
          </a:stretch>
        </p:blipFill>
        <p:spPr bwMode="auto">
          <a:xfrm>
            <a:off x="894617" y="545122"/>
            <a:ext cx="4078312" cy="7130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767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2807" y="807125"/>
            <a:ext cx="7785616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Taiga? The Ideal SPM Tool for Our Project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52807" y="1537454"/>
            <a:ext cx="8038386" cy="75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the VoicePilot project, we strategically selected </a:t>
            </a:r>
            <a:r>
              <a:rPr lang="en-US" sz="12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Taiga as our primary Software Project Management tool</a:t>
            </a: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Its robust features and adaptability make it an excellent choice for academic and small team environments.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807" y="2473404"/>
            <a:ext cx="394811" cy="3948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2807" y="3065621"/>
            <a:ext cx="2351127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Agile &amp; Structured Planning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52807" y="3406973"/>
            <a:ext cx="8038386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Taiga seamlessly supports both Agile methodologies and structured project planning, allowing for flexibility and organized execution.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807" y="4228386"/>
            <a:ext cx="394811" cy="3948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2807" y="4820603"/>
            <a:ext cx="2527816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Comprehensive Task Tracking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52807" y="5161955"/>
            <a:ext cx="8038386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provides powerful capabilities for task tracking, efficient scheduling, and real-time monitoring of project progress.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807" y="5983367"/>
            <a:ext cx="394811" cy="3948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2807" y="6575584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Ideal for Teams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52807" y="6916936"/>
            <a:ext cx="8038386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Its user-friendly interface and collaborative features are perfectly suited for the dynamics of academic and small-team projects.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AEF24-CFFB-9200-CC00-2A3EE3D65D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92075" y="7715250"/>
            <a:ext cx="1704428" cy="3871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1609" y="957977"/>
            <a:ext cx="8198763" cy="580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Taiga in Action: Project Setup &amp; Structure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441609" y="1983938"/>
            <a:ext cx="5647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VoicePilot project was meticulously configured within Taiga to ensure a clear and transparent development process. This foundational setup provides all stakeholders with real-time insights into project status and direction.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441609" y="3339703"/>
            <a:ext cx="5647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dedicated project was created in Taiga, establishing a defined workflow tailored to our needs.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441609" y="3998952"/>
            <a:ext cx="564701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milestones were carefully aligned with key development phases to mark progress and critical delivery points.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441609" y="4955381"/>
            <a:ext cx="5647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stories were developed directly from functional requirements, ensuring user-centric feature development.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41609" y="5614630"/>
            <a:ext cx="5647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tasks were linked to specific Work Breakdown Structure (WBS) activities for granular tracking.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96" y="2025729"/>
            <a:ext cx="5647015" cy="22926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41609" y="6482715"/>
            <a:ext cx="11747183" cy="788908"/>
          </a:xfrm>
          <a:prstGeom prst="roundRect">
            <a:avLst>
              <a:gd name="adj" fmla="val 9888"/>
            </a:avLst>
          </a:prstGeom>
          <a:solidFill>
            <a:srgbClr val="E1D4D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227" y="6773108"/>
            <a:ext cx="232053" cy="1856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44898" y="6714649"/>
            <a:ext cx="1095827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detailed setup within Taiga resulted in a clear project structure and enhanced visibility for the entire team.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0C5E87-9A37-598D-0B11-46A97961B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2075" y="7715250"/>
            <a:ext cx="1704428" cy="3871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915" y="868918"/>
            <a:ext cx="10417731" cy="620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Taiga: Backlog &amp; Task Management for Efficiency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31915" y="1887141"/>
            <a:ext cx="12566571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Effective backlog and task management are critical for maintaining momentum and clarity in any software project. Taiga provided the robust framework we needed for VoicePilot.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31915" y="2746415"/>
            <a:ext cx="19859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031915" y="3061097"/>
            <a:ext cx="6183987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6" name="Text 4"/>
          <p:cNvSpPr/>
          <p:nvPr/>
        </p:nvSpPr>
        <p:spPr>
          <a:xfrm>
            <a:off x="1031915" y="3206115"/>
            <a:ext cx="3411022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Comprehensive Product Backlog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31915" y="3635693"/>
            <a:ext cx="6183987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features and requirements for VoicePilot were meticulously captured and maintained within the product backlog.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14498" y="2746415"/>
            <a:ext cx="19859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498" y="3061097"/>
            <a:ext cx="6183987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0" name="Text 8"/>
          <p:cNvSpPr/>
          <p:nvPr/>
        </p:nvSpPr>
        <p:spPr>
          <a:xfrm>
            <a:off x="7414498" y="3206115"/>
            <a:ext cx="3293150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Prioritized Task Categorization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14498" y="3635693"/>
            <a:ext cx="6183987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Tasks were categorized not only by priority but also by their respective project phases, streamlining workflow.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31915" y="4619030"/>
            <a:ext cx="19859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031915" y="4933712"/>
            <a:ext cx="6183987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4" name="Text 12"/>
          <p:cNvSpPr/>
          <p:nvPr/>
        </p:nvSpPr>
        <p:spPr>
          <a:xfrm>
            <a:off x="1031915" y="5078730"/>
            <a:ext cx="3014663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Transparent Status Tracking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31915" y="5508308"/>
            <a:ext cx="6183987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clear status tracking system—from To-Do to In Progress and ultimately Done—provided immediate visual updates.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414498" y="4619030"/>
            <a:ext cx="19859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4498" y="4933712"/>
            <a:ext cx="6183987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8" name="Text 16"/>
          <p:cNvSpPr/>
          <p:nvPr/>
        </p:nvSpPr>
        <p:spPr>
          <a:xfrm>
            <a:off x="7414498" y="5078730"/>
            <a:ext cx="3651766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Quick Identification of Roadblocks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414498" y="5508308"/>
            <a:ext cx="6183987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allowed for easy and rapid identification of potential delays and blockers, facilitating proactive problem-solving.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031915" y="6516529"/>
            <a:ext cx="12566571" cy="844153"/>
          </a:xfrm>
          <a:prstGeom prst="roundRect">
            <a:avLst>
              <a:gd name="adj" fmla="val 9885"/>
            </a:avLst>
          </a:prstGeom>
          <a:solidFill>
            <a:srgbClr val="E1D4D0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511" y="6819543"/>
            <a:ext cx="248245" cy="1985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77353" y="6764774"/>
            <a:ext cx="1172253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Benefit:</a:t>
            </a: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systematic approach significantly improved our planning accuracy and execution control.</a:t>
            </a:r>
            <a:endParaRPr lang="en-US" sz="15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47265DB-72D8-8B42-D84C-E74EB8655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2075" y="7715250"/>
            <a:ext cx="1704428" cy="3871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8F3C-5AD4-44EF-0DCF-59068C4C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2AD067-65DD-1144-36CD-1AA02C859F90}"/>
              </a:ext>
            </a:extLst>
          </p:cNvPr>
          <p:cNvSpPr/>
          <p:nvPr/>
        </p:nvSpPr>
        <p:spPr>
          <a:xfrm>
            <a:off x="2722840" y="451961"/>
            <a:ext cx="7686913" cy="45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Gantt Chart</a:t>
            </a:r>
            <a:endParaRPr lang="en-US" sz="2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F3446F-D131-3DC8-1913-E4AB9DE1166B}"/>
              </a:ext>
            </a:extLst>
          </p:cNvPr>
          <p:cNvSpPr/>
          <p:nvPr/>
        </p:nvSpPr>
        <p:spPr>
          <a:xfrm>
            <a:off x="2722840" y="1196102"/>
            <a:ext cx="91846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0EC8119-BB17-9D2F-B600-078E4C7F9A1A}"/>
              </a:ext>
            </a:extLst>
          </p:cNvPr>
          <p:cNvSpPr/>
          <p:nvPr/>
        </p:nvSpPr>
        <p:spPr>
          <a:xfrm>
            <a:off x="3373601" y="5007372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GitHub</a:t>
            </a:r>
            <a:endParaRPr lang="en-US" sz="1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FC6EFCC-4D0D-1B78-AD8A-CD4CC7BCAD70}"/>
              </a:ext>
            </a:extLst>
          </p:cNvPr>
          <p:cNvSpPr/>
          <p:nvPr/>
        </p:nvSpPr>
        <p:spPr>
          <a:xfrm>
            <a:off x="3373601" y="4098106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How &amp; Code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63413BF-5C70-075A-9F22-23C350948884}"/>
              </a:ext>
            </a:extLst>
          </p:cNvPr>
          <p:cNvSpPr/>
          <p:nvPr/>
        </p:nvSpPr>
        <p:spPr>
          <a:xfrm>
            <a:off x="3373601" y="3198024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&amp; When</a:t>
            </a:r>
            <a:endParaRPr lang="en-US" sz="13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43FFFDC-5472-355F-ACC8-ED01C9511379}"/>
              </a:ext>
            </a:extLst>
          </p:cNvPr>
          <p:cNvSpPr/>
          <p:nvPr/>
        </p:nvSpPr>
        <p:spPr>
          <a:xfrm>
            <a:off x="3373601" y="2288758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Taiga</a:t>
            </a:r>
            <a:endParaRPr lang="en-US" sz="13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B1A5B89-D339-239F-AB0A-160CFE91A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550" y="7715250"/>
            <a:ext cx="1704428" cy="3871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F32369-2BED-34C3-1D39-80FE436B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475" y="7867650"/>
            <a:ext cx="1704428" cy="3871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3B7ECD-1290-8398-6913-45D9F98E41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876" y="2288758"/>
            <a:ext cx="12364648" cy="38137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509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FA1FB16D-FAB4-851F-9EE4-28250FBD2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2075" y="7715250"/>
            <a:ext cx="1704428" cy="3871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E3707BB-E258-3ACE-C770-BC5F355E4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70" y="3112476"/>
            <a:ext cx="10191660" cy="3446585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17481E79-9FD7-74B4-D48C-246462901929}"/>
              </a:ext>
            </a:extLst>
          </p:cNvPr>
          <p:cNvSpPr/>
          <p:nvPr/>
        </p:nvSpPr>
        <p:spPr>
          <a:xfrm>
            <a:off x="744617" y="917555"/>
            <a:ext cx="10945654" cy="664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Feasibility Study</a:t>
            </a:r>
            <a:endParaRPr lang="en-US" sz="4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617" y="585073"/>
            <a:ext cx="10945654" cy="664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GitHub: The Backbone of Our Code Management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617" y="1675567"/>
            <a:ext cx="13141166" cy="68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Beyond project planning, robust source code management is paramount. GitHub served as the essential version control tool for the VoicePilot project.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4617" y="2787134"/>
            <a:ext cx="6311027" cy="68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dedicated GitHub repository was established for the entire VoicePilot project codebase.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4617" y="3542348"/>
            <a:ext cx="6311027" cy="68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commits, code changes, and version histories were meticulously tracked, providing a complete audit trail.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4617" y="4297561"/>
            <a:ext cx="6311027" cy="1021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GitHub's capabilities fostered seamless collaboration among team members, enabling concurrent development and code reviews.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4617" y="5393174"/>
            <a:ext cx="6311027" cy="68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also served as a reliable backup mechanism, safeguarding our code against data loss.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4617" y="6757154"/>
            <a:ext cx="13141166" cy="904042"/>
          </a:xfrm>
          <a:prstGeom prst="roundRect">
            <a:avLst>
              <a:gd name="adj" fmla="val 9885"/>
            </a:avLst>
          </a:prstGeom>
          <a:solidFill>
            <a:srgbClr val="E1D4D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82" y="7088267"/>
            <a:ext cx="265867" cy="2127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36013" y="7023021"/>
            <a:ext cx="12237006" cy="34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Repository:</a:t>
            </a: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u="sng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github.com/uzairhassan375/SPM-Project</a:t>
            </a:r>
            <a:endParaRPr lang="en-US" sz="16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33DCC6-7CAF-6929-2CCA-A8392B8AA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17"/>
          <a:stretch>
            <a:fillRect/>
          </a:stretch>
        </p:blipFill>
        <p:spPr bwMode="auto">
          <a:xfrm>
            <a:off x="8550336" y="2356366"/>
            <a:ext cx="4813971" cy="387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9EBAFC-5F0C-939A-C17A-E73660639C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2075" y="7715250"/>
            <a:ext cx="1704428" cy="3871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99C2-B69C-64B6-8A29-0129CDB1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D2F267-D044-64A9-89E9-5BD4916E873C}"/>
              </a:ext>
            </a:extLst>
          </p:cNvPr>
          <p:cNvSpPr/>
          <p:nvPr/>
        </p:nvSpPr>
        <p:spPr>
          <a:xfrm>
            <a:off x="2722840" y="451961"/>
            <a:ext cx="7686913" cy="45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Backlog Management: Taiga</a:t>
            </a:r>
            <a:endParaRPr lang="en-US" sz="2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43F938-BEA7-F4FF-6183-3AE9AB3F8DF4}"/>
              </a:ext>
            </a:extLst>
          </p:cNvPr>
          <p:cNvSpPr/>
          <p:nvPr/>
        </p:nvSpPr>
        <p:spPr>
          <a:xfrm>
            <a:off x="2722840" y="1196102"/>
            <a:ext cx="91846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CFDDE65-F345-FEFB-59D0-A32FD307B1A7}"/>
              </a:ext>
            </a:extLst>
          </p:cNvPr>
          <p:cNvSpPr/>
          <p:nvPr/>
        </p:nvSpPr>
        <p:spPr>
          <a:xfrm>
            <a:off x="3373601" y="5007372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GitHub</a:t>
            </a:r>
            <a:endParaRPr lang="en-US" sz="1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2E422E2-5447-B17C-DEA2-8FC9F03D964B}"/>
              </a:ext>
            </a:extLst>
          </p:cNvPr>
          <p:cNvSpPr/>
          <p:nvPr/>
        </p:nvSpPr>
        <p:spPr>
          <a:xfrm>
            <a:off x="3373601" y="4098106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How &amp; Code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6606C84-F57A-FB27-C37F-343712D40A61}"/>
              </a:ext>
            </a:extLst>
          </p:cNvPr>
          <p:cNvSpPr/>
          <p:nvPr/>
        </p:nvSpPr>
        <p:spPr>
          <a:xfrm>
            <a:off x="3373601" y="3198024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&amp; When</a:t>
            </a:r>
            <a:endParaRPr lang="en-US" sz="13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FA19C94-E2BA-7571-28E7-D12040D2BB2C}"/>
              </a:ext>
            </a:extLst>
          </p:cNvPr>
          <p:cNvSpPr/>
          <p:nvPr/>
        </p:nvSpPr>
        <p:spPr>
          <a:xfrm>
            <a:off x="3373601" y="2288758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Taiga</a:t>
            </a:r>
            <a:endParaRPr lang="en-US" sz="13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90BDDA7-01B3-0BFE-7890-ADE6CFA7D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550" y="7715250"/>
            <a:ext cx="1704428" cy="3871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AD3439-F75E-DF6F-3D6A-A9BAA793A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475" y="7867650"/>
            <a:ext cx="1704428" cy="387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ACE14A-1623-3D3D-CD68-E13073E3F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308" y="1196101"/>
            <a:ext cx="9741877" cy="658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1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51E7C-A0E4-06F6-ABAD-65C6B43D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2D01D1-86AE-EA00-CBA6-1C01DA8F0A9E}"/>
              </a:ext>
            </a:extLst>
          </p:cNvPr>
          <p:cNvSpPr/>
          <p:nvPr/>
        </p:nvSpPr>
        <p:spPr>
          <a:xfrm>
            <a:off x="2722840" y="451961"/>
            <a:ext cx="7686913" cy="45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Seamless Integration:  GitHub in Harmony</a:t>
            </a:r>
            <a:endParaRPr lang="en-US" sz="2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37C866-87D8-2D30-B24B-37194E6D9D89}"/>
              </a:ext>
            </a:extLst>
          </p:cNvPr>
          <p:cNvSpPr/>
          <p:nvPr/>
        </p:nvSpPr>
        <p:spPr>
          <a:xfrm>
            <a:off x="2722840" y="1196102"/>
            <a:ext cx="91846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75AF8EF-610E-3499-62AC-474A5E366113}"/>
              </a:ext>
            </a:extLst>
          </p:cNvPr>
          <p:cNvSpPr/>
          <p:nvPr/>
        </p:nvSpPr>
        <p:spPr>
          <a:xfrm>
            <a:off x="3373601" y="5007372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GitHub</a:t>
            </a:r>
            <a:endParaRPr lang="en-US" sz="1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D98ED3E-3CF7-0F0D-71A5-8B7E2E4681EB}"/>
              </a:ext>
            </a:extLst>
          </p:cNvPr>
          <p:cNvSpPr/>
          <p:nvPr/>
        </p:nvSpPr>
        <p:spPr>
          <a:xfrm>
            <a:off x="3373601" y="4098106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How &amp; Code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1137B30-BA6D-D5B0-C526-9F18C0EBD3FD}"/>
              </a:ext>
            </a:extLst>
          </p:cNvPr>
          <p:cNvSpPr/>
          <p:nvPr/>
        </p:nvSpPr>
        <p:spPr>
          <a:xfrm>
            <a:off x="3373601" y="3198024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&amp; When</a:t>
            </a:r>
            <a:endParaRPr lang="en-US" sz="13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7FCE511-7881-769B-C273-8EADC459129A}"/>
              </a:ext>
            </a:extLst>
          </p:cNvPr>
          <p:cNvSpPr/>
          <p:nvPr/>
        </p:nvSpPr>
        <p:spPr>
          <a:xfrm>
            <a:off x="3373601" y="2288758"/>
            <a:ext cx="2066515" cy="25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Taiga</a:t>
            </a:r>
            <a:endParaRPr lang="en-US" sz="13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9138A0-6183-CA78-5D9C-C23553582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590"/>
          <a:stretch>
            <a:fillRect/>
          </a:stretch>
        </p:blipFill>
        <p:spPr>
          <a:xfrm>
            <a:off x="2056012" y="2173552"/>
            <a:ext cx="10518255" cy="52872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E1231A-DDCA-E1C9-70CD-D458E52E1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2550" y="7715250"/>
            <a:ext cx="1704428" cy="3871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C0079A1-43BB-0F07-D99A-59261E879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4475" y="7867650"/>
            <a:ext cx="1704428" cy="38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34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62" y="1347634"/>
            <a:ext cx="6122432" cy="40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 &amp; Key Takeaways from VoicePilot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761962" y="1940685"/>
            <a:ext cx="8112323" cy="410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VoicePilot project successfully demonstrated the effective application of modern software project management principles and tools.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61962" y="2687445"/>
            <a:ext cx="8112323" cy="946547"/>
          </a:xfrm>
          <a:prstGeom prst="roundRect">
            <a:avLst>
              <a:gd name="adj" fmla="val 7728"/>
            </a:avLst>
          </a:prstGeom>
          <a:solidFill>
            <a:srgbClr val="FFFCFA"/>
          </a:solidFill>
          <a:ln/>
        </p:spPr>
      </p:sp>
      <p:sp>
        <p:nvSpPr>
          <p:cNvPr id="6" name="Shape 3"/>
          <p:cNvSpPr/>
          <p:nvPr/>
        </p:nvSpPr>
        <p:spPr>
          <a:xfrm>
            <a:off x="761962" y="2672205"/>
            <a:ext cx="8112323" cy="60960"/>
          </a:xfrm>
          <a:prstGeom prst="roundRect">
            <a:avLst>
              <a:gd name="adj" fmla="val 88367"/>
            </a:avLst>
          </a:prstGeom>
          <a:solidFill>
            <a:srgbClr val="835E54"/>
          </a:solidFill>
          <a:ln/>
        </p:spPr>
      </p:sp>
      <p:sp>
        <p:nvSpPr>
          <p:cNvPr id="7" name="Shape 4"/>
          <p:cNvSpPr/>
          <p:nvPr/>
        </p:nvSpPr>
        <p:spPr>
          <a:xfrm>
            <a:off x="4578093" y="2533259"/>
            <a:ext cx="384691" cy="384691"/>
          </a:xfrm>
          <a:prstGeom prst="roundRect">
            <a:avLst>
              <a:gd name="adj" fmla="val 237697"/>
            </a:avLst>
          </a:prstGeom>
          <a:solidFill>
            <a:srgbClr val="835E54"/>
          </a:solidFill>
          <a:ln/>
        </p:spPr>
      </p:sp>
      <p:sp>
        <p:nvSpPr>
          <p:cNvPr id="8" name="Text 5"/>
          <p:cNvSpPr/>
          <p:nvPr/>
        </p:nvSpPr>
        <p:spPr>
          <a:xfrm>
            <a:off x="4741090" y="2591361"/>
            <a:ext cx="153829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5432" y="3008080"/>
            <a:ext cx="2037278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Effective Project Management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05432" y="3285376"/>
            <a:ext cx="782538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Taiga proved to be an invaluable asset for planning, monitoring, and iterative development, fostering efficiency.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1962" y="3954508"/>
            <a:ext cx="8112323" cy="946547"/>
          </a:xfrm>
          <a:prstGeom prst="roundRect">
            <a:avLst>
              <a:gd name="adj" fmla="val 7728"/>
            </a:avLst>
          </a:prstGeom>
          <a:solidFill>
            <a:srgbClr val="FFFCFA"/>
          </a:solidFill>
          <a:ln/>
        </p:spPr>
      </p:sp>
      <p:sp>
        <p:nvSpPr>
          <p:cNvPr id="12" name="Shape 9"/>
          <p:cNvSpPr/>
          <p:nvPr/>
        </p:nvSpPr>
        <p:spPr>
          <a:xfrm>
            <a:off x="761962" y="3939268"/>
            <a:ext cx="8112323" cy="60960"/>
          </a:xfrm>
          <a:prstGeom prst="roundRect">
            <a:avLst>
              <a:gd name="adj" fmla="val 88367"/>
            </a:avLst>
          </a:prstGeom>
          <a:solidFill>
            <a:srgbClr val="835E54"/>
          </a:solidFill>
          <a:ln/>
        </p:spPr>
      </p:sp>
      <p:sp>
        <p:nvSpPr>
          <p:cNvPr id="13" name="Shape 10"/>
          <p:cNvSpPr/>
          <p:nvPr/>
        </p:nvSpPr>
        <p:spPr>
          <a:xfrm>
            <a:off x="4587618" y="3800322"/>
            <a:ext cx="384691" cy="384691"/>
          </a:xfrm>
          <a:prstGeom prst="roundRect">
            <a:avLst>
              <a:gd name="adj" fmla="val 237697"/>
            </a:avLst>
          </a:prstGeom>
          <a:solidFill>
            <a:srgbClr val="83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4741090" y="3858424"/>
            <a:ext cx="153829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5432" y="4275143"/>
            <a:ext cx="1756410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Secure Code Management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05432" y="4552440"/>
            <a:ext cx="782538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ensured a secure, collaborative, and version-controlled environment for all source code.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05432" y="5819503"/>
            <a:ext cx="782538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1962" y="5294834"/>
            <a:ext cx="8112323" cy="946547"/>
          </a:xfrm>
          <a:prstGeom prst="roundRect">
            <a:avLst>
              <a:gd name="adj" fmla="val 7728"/>
            </a:avLst>
          </a:prstGeom>
          <a:solidFill>
            <a:srgbClr val="FFFCFA"/>
          </a:solidFill>
          <a:ln/>
        </p:spPr>
      </p:sp>
      <p:sp>
        <p:nvSpPr>
          <p:cNvPr id="24" name="Shape 21"/>
          <p:cNvSpPr/>
          <p:nvPr/>
        </p:nvSpPr>
        <p:spPr>
          <a:xfrm>
            <a:off x="761962" y="5279594"/>
            <a:ext cx="8112323" cy="60960"/>
          </a:xfrm>
          <a:prstGeom prst="roundRect">
            <a:avLst>
              <a:gd name="adj" fmla="val 88367"/>
            </a:avLst>
          </a:prstGeom>
          <a:solidFill>
            <a:srgbClr val="835E54"/>
          </a:solidFill>
          <a:ln/>
        </p:spPr>
      </p:sp>
      <p:sp>
        <p:nvSpPr>
          <p:cNvPr id="25" name="Shape 22"/>
          <p:cNvSpPr/>
          <p:nvPr/>
        </p:nvSpPr>
        <p:spPr>
          <a:xfrm>
            <a:off x="4597143" y="5140648"/>
            <a:ext cx="384691" cy="384691"/>
          </a:xfrm>
          <a:prstGeom prst="roundRect">
            <a:avLst>
              <a:gd name="adj" fmla="val 237697"/>
            </a:avLst>
          </a:prstGeom>
          <a:solidFill>
            <a:srgbClr val="835E54"/>
          </a:solidFill>
          <a:ln/>
        </p:spPr>
      </p:sp>
      <p:sp>
        <p:nvSpPr>
          <p:cNvPr id="26" name="Text 23"/>
          <p:cNvSpPr/>
          <p:nvPr/>
        </p:nvSpPr>
        <p:spPr>
          <a:xfrm>
            <a:off x="4741090" y="5198750"/>
            <a:ext cx="153829" cy="19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05432" y="5615469"/>
            <a:ext cx="1846778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Successful Tool Integration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05432" y="5892766"/>
            <a:ext cx="782538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VoicePilot exemplifies strong SPM tool usage, successful execution, and the benefits of integrated platforms.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CDC59E9-523D-CB42-E45A-5658CE13E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2075" y="7715250"/>
            <a:ext cx="1704428" cy="387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809</Words>
  <Application>Microsoft Office PowerPoint</Application>
  <PresentationFormat>Custom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Crimson Pro Bold</vt:lpstr>
      <vt:lpstr>Open Sans</vt:lpstr>
      <vt:lpstr>Crimson Pro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Uzair Hassan</cp:lastModifiedBy>
  <cp:revision>3</cp:revision>
  <dcterms:created xsi:type="dcterms:W3CDTF">2026-01-22T03:08:37Z</dcterms:created>
  <dcterms:modified xsi:type="dcterms:W3CDTF">2026-01-22T03:49:51Z</dcterms:modified>
</cp:coreProperties>
</file>